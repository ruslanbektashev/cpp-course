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292" r:id="rId4"/>
    <p:sldId id="293" r:id="rId5"/>
    <p:sldId id="294" r:id="rId6"/>
    <p:sldId id="332" r:id="rId7"/>
    <p:sldId id="333" r:id="rId8"/>
    <p:sldId id="334" r:id="rId9"/>
    <p:sldId id="342" r:id="rId10"/>
    <p:sldId id="335" r:id="rId11"/>
    <p:sldId id="336" r:id="rId12"/>
    <p:sldId id="337" r:id="rId13"/>
    <p:sldId id="338" r:id="rId14"/>
    <p:sldId id="339" r:id="rId15"/>
    <p:sldId id="346" r:id="rId16"/>
    <p:sldId id="345" r:id="rId17"/>
    <p:sldId id="340" r:id="rId18"/>
    <p:sldId id="341" r:id="rId19"/>
    <p:sldId id="343" r:id="rId20"/>
    <p:sldId id="344" r:id="rId21"/>
    <p:sldId id="280" r:id="rId22"/>
    <p:sldId id="281" r:id="rId23"/>
    <p:sldId id="282" r:id="rId24"/>
    <p:sldId id="275" r:id="rId25"/>
    <p:sldId id="278" r:id="rId26"/>
    <p:sldId id="279" r:id="rId27"/>
    <p:sldId id="295" r:id="rId28"/>
    <p:sldId id="307" r:id="rId29"/>
    <p:sldId id="296" r:id="rId30"/>
    <p:sldId id="308" r:id="rId31"/>
    <p:sldId id="297" r:id="rId32"/>
    <p:sldId id="309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10" r:id="rId42"/>
    <p:sldId id="311" r:id="rId43"/>
    <p:sldId id="312" r:id="rId44"/>
    <p:sldId id="313" r:id="rId45"/>
    <p:sldId id="314" r:id="rId46"/>
    <p:sldId id="31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66"/>
    <p:restoredTop sz="94626"/>
  </p:normalViewPr>
  <p:slideViewPr>
    <p:cSldViewPr snapToGrid="0">
      <p:cViewPr varScale="1">
        <p:scale>
          <a:sx n="121" d="100"/>
          <a:sy n="121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92E5-529B-30D3-AE81-2245EEB8B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FE717-2789-1ADF-789C-BC3631FAF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7001-F57A-720A-D942-66136555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4CEDF-B899-47F1-3D5D-46F82EA6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3B222-B62F-CE47-703C-033E7AD9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8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5D9C-C8EB-5D3F-FBB4-A6FBADCF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6AB6-CD36-8164-6662-959660E6A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801A-4B1F-E5AD-91AE-C1E58F49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12B68-1987-0A13-46F4-87036D90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B3B5B-C7F5-549E-EF76-D9ECF7CE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542F-9340-B78B-78F5-D583BDCD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F73C-8F15-2D41-7B8C-4F0ECFA47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951A-DF71-44C1-065D-2276C0D4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3297A-24D6-98A6-613A-4BD87A47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0BC0-30A2-AF4A-9F5A-D9F5F792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8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692-9E45-0F2C-9D85-37EDD94C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57A0-2E00-DF70-5BE8-3791F148D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F8B3F-C613-B3AF-D2AA-6C2052341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7C185-DDB2-A536-F5E2-BF24DAB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271C3-F4C7-21C0-ECBE-07CD1BA1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5B6B3-B932-FB0E-EC75-A1F83156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1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9FAA-A76B-5B3C-91B5-88F07CB4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93C45-0017-BB60-D581-01862464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F695F-BD38-E1FE-B60C-FF3A6CE33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6E78A-40C7-311B-624D-902838ABC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27C1D-0BF2-6544-E0AA-980581A02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2B2D8-3127-24D9-32DD-62466260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EF6D9-DE8E-0C9B-F7B2-5072C43F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C11CE-C685-F3FD-B5C8-01C02BE7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4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8EBC-FA9A-1531-DE4B-325E09B4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788C0-2D4F-2AD3-7956-8A17918A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A1AB5-3364-AEAA-89D0-3454BC57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8AE7-239E-3666-B093-8FB58D4A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55DD1-FDE7-A0A0-F57B-D1C1E8BC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CA79F-E2DF-15E2-EB27-896E71A9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D4973-47BE-956D-AFCA-7A3E1269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3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0B97-FABE-536E-1131-1A8B9473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00B7-6174-1F0F-8CF9-03CDB4B90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EFE41-2800-8619-C21F-962FC4558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3439-D29B-7BC8-F11A-43D56B47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8AF4-F5EE-3C6D-1891-1A8B6EFB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3B225-0672-54BA-ADF6-28147D8B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2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0197-65AB-1740-F6F9-CA919D79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37A10-BC71-1D05-22FF-036A8B39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AF74C-71CE-74D5-8728-B9B75F35F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B09C-7879-ACDC-8DEC-E9DACDDF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0F59B-9BD5-76A3-1083-B5AC75AA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743C0-D63E-B688-E0A5-13387ABA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9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224D-867D-A18D-8ABB-FF585D05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3086A-E4B4-D311-37AC-C8887D662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FB24C-AC96-33F6-35D0-1D8E13A0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B54A-8F50-E940-2A40-97E7CD17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A62D-57FC-6731-62B6-9D5407D9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693F3-48E6-44F2-4BEC-73BAFAE6C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09CB6-E8F3-493B-D352-C0BD61379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549EF-D742-1B82-7163-4F3D0E1D8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E140-9173-0EF5-DE28-E2946C13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52362-F3F1-AA1A-B9CE-9DD8D0BA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6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48814-53FC-C149-E976-D78F11EC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73379-60CC-9A2C-1592-8206CE7A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B4AE-93BB-2C45-4845-7B1F23A71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F6EF1-39D2-75FC-F3B2-85DD4AED5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D8E9-0436-DCE8-A145-3D899DD9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2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0EA2-F996-5E5E-D679-B7FFDD42D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2D153-5B78-BB5B-6824-6A72FD9E32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С++11</a:t>
            </a:r>
            <a:endParaRPr lang="en-US" dirty="0"/>
          </a:p>
          <a:p>
            <a:r>
              <a:rPr lang="ru-RU" dirty="0"/>
              <a:t>часть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0F33-4FF9-A934-51C2-71C98C30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2B65-DF1B-6B8B-2453-6D18A979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D60F-8312-521C-1763-DF3C13A3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FCE0B-46CF-34DB-7282-7B1EC4BA7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9994"/>
            <a:ext cx="46609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2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DF61-41B3-AC0D-EF7A-EA183755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8632-259D-9BFD-CA17-B3FDE39D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68D6A-8270-D082-2E6A-22712BD80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A9346-F5BC-6334-188B-060761994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9994"/>
            <a:ext cx="4660900" cy="302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1DC326-DFAC-4AD9-3C7B-D0B637F3C878}"/>
              </a:ext>
            </a:extLst>
          </p:cNvPr>
          <p:cNvSpPr txBox="1"/>
          <p:nvPr/>
        </p:nvSpPr>
        <p:spPr>
          <a:xfrm>
            <a:off x="1366344" y="5810624"/>
            <a:ext cx="382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8874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2CB8-B960-873E-9749-3F553FE6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7230-D746-605B-09B5-3452EE7E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8625C-4947-B476-D87F-56DB9099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F65D6-66E7-2EA2-776D-1358B68AF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8453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1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C746-C134-D84C-9110-DDF198A8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3B01-4B2A-4935-58D4-F13A0456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alignas</a:t>
            </a:r>
            <a:r>
              <a:rPr lang="en-US" dirty="0"/>
              <a:t> &amp; </a:t>
            </a:r>
            <a:r>
              <a:rPr lang="en-US" dirty="0" err="1"/>
              <a:t>alignof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38621-3309-137D-0EB2-46A6A4B0E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8D648-BACC-8956-D6D4-A9C69D23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3881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68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74A5-D972-1505-C1BE-02ECE751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8431-4CE4-FB66-3CA8-132B4EFD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decltype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B6479-9660-00D7-91A5-30AEA6871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9C37C-00D6-15FA-2FD3-3C2442A0B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3025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2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6997-2CE4-07CF-89A1-20239A73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6A24-A901-B4F9-34A8-D5E1C54F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7E6C-5004-0327-2652-E546183B0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Лямбда-выражения в </a:t>
            </a:r>
            <a:r>
              <a:rPr lang="en-US" dirty="0"/>
              <a:t>C++11 — </a:t>
            </a:r>
            <a:r>
              <a:rPr lang="ru-RU" dirty="0"/>
              <a:t>это способ писать анонимные функции прямо на месте использования, сохраняя при этом строгую типизацию, производительность и интеграцию с системой типов </a:t>
            </a:r>
            <a:r>
              <a:rPr lang="en-US" dirty="0"/>
              <a:t>C++.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capture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](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mutable?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? -&gt; 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return_type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body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9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B85E-54C3-5372-BB18-3F836CDD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026C-9307-5097-FA11-71A6414A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8482F-53C3-B1EB-BB7F-257D77611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[</a:t>
            </a:r>
            <a:r>
              <a:rPr lang="en-US" i="1" dirty="0"/>
              <a:t>capture</a:t>
            </a:r>
            <a:r>
              <a:rPr lang="en-US" dirty="0"/>
              <a:t>] - </a:t>
            </a:r>
            <a:r>
              <a:rPr lang="ru-RU" dirty="0"/>
              <a:t>список захвата (</a:t>
            </a:r>
            <a:r>
              <a:rPr lang="en-US" b="1" dirty="0"/>
              <a:t>capture list</a:t>
            </a:r>
            <a:r>
              <a:rPr lang="en-US" dirty="0"/>
              <a:t>)</a:t>
            </a:r>
          </a:p>
          <a:p>
            <a:pPr>
              <a:buFont typeface="System Font Regular"/>
              <a:buChar char="-"/>
            </a:pPr>
            <a:r>
              <a:rPr lang="ru-RU" dirty="0"/>
              <a:t>содержит имена переменных, которые должны</a:t>
            </a:r>
            <a:r>
              <a:rPr lang="en-US" dirty="0"/>
              <a:t> </a:t>
            </a:r>
            <a:r>
              <a:rPr lang="ru-RU" dirty="0"/>
              <a:t>быть видимы внутри</a:t>
            </a:r>
          </a:p>
          <a:p>
            <a:pPr>
              <a:buFont typeface="System Font Regular"/>
              <a:buChar char="-"/>
            </a:pPr>
            <a:r>
              <a:rPr lang="ru-RU" dirty="0"/>
              <a:t>сами эти переменные должны быть </a:t>
            </a:r>
            <a:r>
              <a:rPr lang="ru-RU" b="1" dirty="0"/>
              <a:t>видимы в месте</a:t>
            </a:r>
            <a:r>
              <a:rPr lang="en-US" b="1" dirty="0"/>
              <a:t> </a:t>
            </a:r>
            <a:r>
              <a:rPr lang="ru-RU" b="1" dirty="0"/>
              <a:t>объявления</a:t>
            </a:r>
            <a:r>
              <a:rPr lang="ru-RU" dirty="0"/>
              <a:t> лямбда-функции</a:t>
            </a:r>
          </a:p>
          <a:p>
            <a:pPr>
              <a:buFont typeface="System Font Regular"/>
              <a:buChar char="-"/>
            </a:pPr>
            <a:r>
              <a:rPr lang="ru-RU" dirty="0"/>
              <a:t>переменные перечисленные с модификатором </a:t>
            </a:r>
            <a:r>
              <a:rPr lang="en-US" dirty="0"/>
              <a:t>“</a:t>
            </a:r>
            <a:r>
              <a:rPr lang="ru-RU" dirty="0"/>
              <a:t>&amp;</a:t>
            </a:r>
            <a:r>
              <a:rPr lang="en-US" dirty="0"/>
              <a:t>” </a:t>
            </a:r>
            <a:r>
              <a:rPr lang="ru-RU" b="1" dirty="0"/>
              <a:t>передаются по ссылке</a:t>
            </a:r>
            <a:r>
              <a:rPr lang="ru-RU" dirty="0"/>
              <a:t>, время их жизни должно</a:t>
            </a:r>
            <a:r>
              <a:rPr lang="en-US" dirty="0"/>
              <a:t> </a:t>
            </a:r>
            <a:r>
              <a:rPr lang="ru-RU" dirty="0"/>
              <a:t>превышать время жизни лямбда-функции</a:t>
            </a:r>
          </a:p>
          <a:p>
            <a:pPr>
              <a:buFont typeface="System Font Regular"/>
              <a:buChar char="-"/>
            </a:pPr>
            <a:r>
              <a:rPr lang="ru-RU" dirty="0"/>
              <a:t>переменные перечисленные без модификатора </a:t>
            </a:r>
            <a:r>
              <a:rPr lang="en-US" dirty="0"/>
              <a:t>“</a:t>
            </a:r>
            <a:r>
              <a:rPr lang="ru-RU" dirty="0"/>
              <a:t>&amp;</a:t>
            </a:r>
            <a:r>
              <a:rPr lang="en-US" dirty="0"/>
              <a:t>” </a:t>
            </a:r>
            <a:r>
              <a:rPr lang="ru-RU" b="1" dirty="0"/>
              <a:t>передаются по значению</a:t>
            </a:r>
            <a:r>
              <a:rPr lang="ru-RU" dirty="0"/>
              <a:t>, копируются</a:t>
            </a:r>
          </a:p>
          <a:p>
            <a:pPr>
              <a:buFont typeface="System Font Regular"/>
              <a:buChar char="-"/>
            </a:pPr>
            <a:r>
              <a:rPr lang="ru-RU" dirty="0"/>
              <a:t>нельзя захватывать поля и методы класса</a:t>
            </a:r>
            <a:r>
              <a:rPr lang="en-US" dirty="0"/>
              <a:t> </a:t>
            </a:r>
            <a:r>
              <a:rPr lang="ru-RU" dirty="0"/>
              <a:t>владельца, если лямбда-функция создаётся внутри</a:t>
            </a:r>
            <a:r>
              <a:rPr lang="en-US" dirty="0"/>
              <a:t> </a:t>
            </a:r>
            <a:r>
              <a:rPr lang="ru-RU" dirty="0"/>
              <a:t>одного из методов класса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53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D009-AA59-AB5F-6CF3-C5B97FFB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CB44-32B1-C231-6635-3FB43A63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FF59-DEA0-F74C-0FB6-FD12A71BB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[</a:t>
            </a:r>
            <a:r>
              <a:rPr lang="en-US" i="1" dirty="0"/>
              <a:t>capture</a:t>
            </a:r>
            <a:r>
              <a:rPr lang="en-US" dirty="0"/>
              <a:t>] - </a:t>
            </a:r>
            <a:r>
              <a:rPr lang="ru-RU" dirty="0"/>
              <a:t>список захвата (</a:t>
            </a:r>
            <a:r>
              <a:rPr lang="en-US" b="1" dirty="0"/>
              <a:t>capture 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3 </a:t>
            </a:r>
            <a:r>
              <a:rPr lang="ru-RU" dirty="0"/>
              <a:t>специальных символа: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61995A-FF1A-1F2E-2CAD-41C63382BE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38844"/>
          <a:ext cx="10515600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248">
                  <a:extLst>
                    <a:ext uri="{9D8B030D-6E8A-4147-A177-3AD203B41FA5}">
                      <a16:colId xmlns:a16="http://schemas.microsoft.com/office/drawing/2014/main" val="2476223317"/>
                    </a:ext>
                  </a:extLst>
                </a:gridCol>
                <a:gridCol w="9882352">
                  <a:extLst>
                    <a:ext uri="{9D8B030D-6E8A-4147-A177-3AD203B41FA5}">
                      <a16:colId xmlns:a16="http://schemas.microsoft.com/office/drawing/2014/main" val="288452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Внутри метода класса лямбда-функция может захватить указатель </a:t>
                      </a:r>
                      <a:r>
                        <a:rPr lang="en-US" dirty="0"/>
                        <a:t>this </a:t>
                      </a:r>
                      <a:r>
                        <a:rPr lang="ru-RU" dirty="0"/>
                        <a:t>на объект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владения метода, (всегда передаётся по значению, &amp;</a:t>
                      </a:r>
                      <a:r>
                        <a:rPr lang="en-US" dirty="0"/>
                        <a:t>this – </a:t>
                      </a:r>
                      <a:r>
                        <a:rPr lang="ru-RU" dirty="0"/>
                        <a:t>запрещено, т.к. не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имеет значения)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21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/>
                        <a:t>Копирует по значению все переменные из области видимости внутрь лямбда-функции. Не может быть использован совместно с модификатором “&amp;”. </a:t>
                      </a:r>
                      <a:br>
                        <a:rPr lang="en-US" dirty="0"/>
                      </a:br>
                      <a:r>
                        <a:rPr lang="ru-RU" dirty="0"/>
                        <a:t>Если присутствует модификатор “=”, то если внутри списка захвата присутствуют переменные они должны быть с модификатором “&amp;”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158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Создает константные ссылки на все переменные области видимости лямбда-функции. Не может быть использован совместно с модификатором “=”. </a:t>
                      </a:r>
                      <a:br>
                        <a:rPr lang="en-US" dirty="0"/>
                      </a:br>
                      <a:r>
                        <a:rPr lang="ru-RU" dirty="0"/>
                        <a:t>Если присутствует модификатор “&amp;”, то если внутри списка захвата присутствуют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переменные они должны быть без модификатора “&amp;”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559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9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9B49-7137-CAAD-CAEA-B5C1E7BC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0F6A-9120-2704-1F9B-D5AC4E0D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38942-5A1F-D8EE-FD04-79798A8A6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B31EAD-270E-CA4D-EA86-8074026A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31877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38C3-2C95-8806-2653-EE4F7ED9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87EB-F528-EC3C-ED5F-57B0BFD8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59673-85E9-83FB-0BE8-6155DF0CF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2E3D1-1030-896A-D0DE-EEB067F24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72898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3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319D-AA8B-298A-0C59-8D23F697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419E-3702-5EE4-D56E-32F393A2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4BD9-F81C-24A2-7433-DE3D63ED9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81E4E-C34D-E749-06E5-A39509139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5466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72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CF691-684B-F906-6E5C-A549749F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EFCB-3AD0-5128-D484-73B2DDA8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83D2D-7D52-822A-72E8-56044C8FA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74657-127A-7AFD-66DC-B100F579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694"/>
            <a:ext cx="36449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6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A64DA-97D1-064F-1815-27403A00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ACFA-68D1-58A0-B11D-C6F067C3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01B4-5289-9C25-716C-5FEF39515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70267-FAF2-7CA8-FFAD-ECD66843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694"/>
            <a:ext cx="4572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15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B777-0417-64FE-9F6E-074958CBB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AEAB4-4C2F-21F9-4FC2-EC258F09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36819-6496-60D5-4201-755D0B219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EDBE6-2C40-EA5B-5F62-115AFE996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6708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5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959D-F165-FABB-AB2F-9DDEDE4AD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5F9B-1A5D-1B41-4B8E-1FF3995D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2EF68-42E2-9A04-0AE3-18A0820C6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81A7D-8340-FEF8-1901-C847809E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47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32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ED2D-BD51-A8C6-1E67-C83588C1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9784-F613-AC2B-7710-FC447A11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11C4-C39E-5804-250C-F8CA43A02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39698-FA4D-ADBB-C2C7-307236CE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3444"/>
            <a:ext cx="58293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5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7C21-80A9-D895-6B6D-6AA38C47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B9B0-CA05-0983-2BFA-0586DA78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BFBA-70CB-EDA8-7809-F5DC3CDF3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CABA2-CDDC-7251-31C6-94F846836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493000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10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E1F0-1901-99DA-C751-54E1FF39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E662-33A0-ED67-90A5-9F144B0E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std::bind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DB21D-671A-D586-D4B6-E7BAC647E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3F6F3-088F-05E2-97C2-1B5EE1FF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72400" cy="449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39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04FA-9C0F-72BE-FF69-A79A74C3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76FD-02C2-267B-7108-301C6499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std::bind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C057C-E221-E1F0-23D4-489D1DFE5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92B4B-4276-9FA2-8400-0DC673AD8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72400" cy="449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7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C77A-1E18-1A70-57B5-978BB1FF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DA05-CA5D-4F17-F79A-4C4C4EC7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thread_local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1BF11-8C32-E79E-2B32-6E22A1B6B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755707-182E-0031-976B-27DFD8A8B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8775"/>
            <a:ext cx="76454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2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5785-0253-2E4B-6CFF-22ED3388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C271-34D5-EA42-E51B-FF1FD759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Поддержка многопоточности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B71B-A929-77C6-EAB7-E1CA5A1D0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2200" dirty="0"/>
              <a:t>модель памяти, поддерживающую многопоточность в С++11</a:t>
            </a:r>
            <a:r>
              <a:rPr lang="en-US" sz="2200" dirty="0"/>
              <a:t> (</a:t>
            </a:r>
            <a:r>
              <a:rPr lang="en-US" sz="2200" b="1" dirty="0"/>
              <a:t>memory ordering</a:t>
            </a:r>
            <a:r>
              <a:rPr lang="en-US" sz="2200" dirty="0"/>
              <a:t>)</a:t>
            </a:r>
            <a:endParaRPr lang="ru-RU" sz="2200" dirty="0"/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2200" dirty="0"/>
              <a:t>класс потока </a:t>
            </a:r>
            <a:r>
              <a:rPr lang="en-US" sz="2200" b="1" dirty="0"/>
              <a:t>std::thread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2200" dirty="0"/>
              <a:t>поддержка </a:t>
            </a:r>
            <a:r>
              <a:rPr lang="en-US" sz="2200" b="1" dirty="0"/>
              <a:t>std::thread::join()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2200" dirty="0"/>
              <a:t>доступ к нативному для платформы дескриптору потока</a:t>
            </a:r>
            <a:r>
              <a:rPr lang="en-US" sz="2200" dirty="0"/>
              <a:t> </a:t>
            </a:r>
            <a:r>
              <a:rPr lang="en-US" sz="2200" b="1" dirty="0"/>
              <a:t>std::thread::</a:t>
            </a:r>
            <a:r>
              <a:rPr lang="en-US" sz="2200" b="1" dirty="0" err="1"/>
              <a:t>native_handle</a:t>
            </a:r>
            <a:r>
              <a:rPr lang="en-US" sz="2200" b="1" dirty="0"/>
              <a:t>()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2200" dirty="0"/>
              <a:t>включает </a:t>
            </a:r>
            <a:r>
              <a:rPr lang="en-US" sz="2200" b="1" dirty="0"/>
              <a:t>std::future </a:t>
            </a:r>
            <a:r>
              <a:rPr lang="ru-RU" sz="2200" dirty="0"/>
              <a:t>и </a:t>
            </a:r>
            <a:r>
              <a:rPr lang="en-US" sz="2200" b="1" dirty="0"/>
              <a:t>std::promise </a:t>
            </a:r>
            <a:r>
              <a:rPr lang="ru-RU" sz="2200" dirty="0"/>
              <a:t>для передачи асинхронных результатов между потоками и класс </a:t>
            </a:r>
            <a:r>
              <a:rPr lang="en-US" sz="2200" b="1" dirty="0"/>
              <a:t>std::</a:t>
            </a:r>
            <a:r>
              <a:rPr lang="en-US" sz="2200" b="1" dirty="0" err="1"/>
              <a:t>packaged_task</a:t>
            </a:r>
            <a:r>
              <a:rPr lang="en-US" sz="2200" b="1" dirty="0"/>
              <a:t> </a:t>
            </a:r>
            <a:r>
              <a:rPr lang="ru-RU" sz="2200" dirty="0"/>
              <a:t>для упаковки</a:t>
            </a:r>
            <a:r>
              <a:rPr lang="en-US" sz="2200" dirty="0"/>
              <a:t> </a:t>
            </a:r>
            <a:r>
              <a:rPr lang="ru-RU" sz="2200" dirty="0"/>
              <a:t>вызова функции, которая может генерировать такой асинхронный</a:t>
            </a:r>
            <a:r>
              <a:rPr lang="en-US" sz="2200" dirty="0"/>
              <a:t> </a:t>
            </a:r>
            <a:r>
              <a:rPr lang="ru-RU" sz="2200" dirty="0"/>
              <a:t>результат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2200" dirty="0"/>
              <a:t>средства потоковой обработки высокого уровня </a:t>
            </a:r>
            <a:r>
              <a:rPr lang="en-US" sz="2200" b="1" dirty="0"/>
              <a:t>std::</a:t>
            </a:r>
            <a:r>
              <a:rPr lang="en-US" sz="2200" b="1" dirty="0" err="1"/>
              <a:t>thread_pool</a:t>
            </a:r>
            <a:endParaRPr lang="en-US" sz="2200" b="1" dirty="0"/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2200" b="1" dirty="0"/>
              <a:t>std::async </a:t>
            </a:r>
            <a:r>
              <a:rPr lang="en-US" sz="2200" dirty="0"/>
              <a:t>- </a:t>
            </a:r>
            <a:r>
              <a:rPr lang="ru-RU" sz="2200" dirty="0"/>
              <a:t>способ запуска задач и привязки результата их выполнения к</a:t>
            </a:r>
            <a:r>
              <a:rPr lang="en-US" sz="2200" dirty="0"/>
              <a:t> </a:t>
            </a:r>
            <a:r>
              <a:rPr lang="ru-RU" sz="2200" dirty="0"/>
              <a:t>объекту класса </a:t>
            </a:r>
            <a:r>
              <a:rPr lang="en-US" sz="2200" b="1" dirty="0"/>
              <a:t>std::future</a:t>
            </a:r>
            <a:r>
              <a:rPr lang="en-US" sz="2200" dirty="0"/>
              <a:t>, </a:t>
            </a:r>
            <a:r>
              <a:rPr lang="ru-RU" sz="2200" dirty="0"/>
              <a:t>можно выбрать, будет ли задание выполняться</a:t>
            </a:r>
            <a:r>
              <a:rPr lang="en-US" sz="2200" dirty="0"/>
              <a:t>  </a:t>
            </a:r>
            <a:r>
              <a:rPr lang="ru-RU" sz="2200" dirty="0"/>
              <a:t>асинхронно в отдельном потоке или синхронно в текущем потоке,</a:t>
            </a:r>
            <a:r>
              <a:rPr lang="en-US" sz="2200" dirty="0"/>
              <a:t> </a:t>
            </a:r>
            <a:r>
              <a:rPr lang="ru-RU" sz="2200" dirty="0"/>
              <a:t>ожидающем 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2157577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E027-7C67-138E-5DDB-00BE4BFB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8ABA-3D9B-0C06-F487-77F75DAD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Поддержка многопоточности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B0206-D277-4697-9792-6621DE5D0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D444B-70EE-0D24-47E3-1EBC3B47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9244"/>
            <a:ext cx="67310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82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6FA9-9F82-8E11-D2A4-48FAFC38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1F6A-E05D-43BB-1E31-EF5FF9863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Доработка шаблонов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075B-848E-5075-ABDA-2B2AF2576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C6ACF4-B646-C163-E6D7-8FA16421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6548"/>
            <a:ext cx="10399434" cy="376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2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D38EA-8806-DD3E-0311-223F0D70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25D0-E04C-C1A1-4C9E-5D87DC56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Изменения в </a:t>
            </a:r>
            <a:r>
              <a:rPr lang="en-US" dirty="0"/>
              <a:t>STL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A609D-3DEA-6AF9-3C77-05CB1573E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n-US" sz="2200" b="1" dirty="0"/>
              <a:t>std::</a:t>
            </a:r>
            <a:r>
              <a:rPr lang="en-US" sz="2200" b="1" dirty="0" err="1"/>
              <a:t>allocator_traits</a:t>
            </a:r>
            <a:r>
              <a:rPr lang="en-US" sz="2200" b="1" dirty="0"/>
              <a:t>&lt;&gt;::construct()</a:t>
            </a:r>
            <a:r>
              <a:rPr lang="en-US" sz="2200" dirty="0"/>
              <a:t> - </a:t>
            </a:r>
            <a:r>
              <a:rPr lang="ru-RU" sz="2200" dirty="0"/>
              <a:t>шаблон, вызывающий</a:t>
            </a:r>
            <a:r>
              <a:rPr lang="en-US" sz="2200" dirty="0"/>
              <a:t> </a:t>
            </a:r>
            <a:r>
              <a:rPr lang="ru-RU" sz="2200" dirty="0"/>
              <a:t>конструкторы без выделения памяти.</a:t>
            </a:r>
          </a:p>
          <a:p>
            <a:pPr marL="285750" indent="-285750">
              <a:buFontTx/>
              <a:buChar char="-"/>
            </a:pPr>
            <a:r>
              <a:rPr lang="ru-RU" sz="2200" dirty="0"/>
              <a:t>во все контейнеры добавили метод </a:t>
            </a:r>
            <a:r>
              <a:rPr lang="en-US" sz="2200" b="1" dirty="0"/>
              <a:t>emplace()</a:t>
            </a:r>
            <a:r>
              <a:rPr lang="en-US" sz="2200" dirty="0"/>
              <a:t>, </a:t>
            </a:r>
            <a:r>
              <a:rPr lang="ru-RU" sz="2200" dirty="0"/>
              <a:t>создающий</a:t>
            </a:r>
            <a:r>
              <a:rPr lang="en-US" sz="2200" dirty="0"/>
              <a:t> </a:t>
            </a:r>
            <a:r>
              <a:rPr lang="ru-RU" sz="2200" dirty="0"/>
              <a:t>объект на месте</a:t>
            </a:r>
          </a:p>
          <a:p>
            <a:pPr marL="285750" indent="-285750">
              <a:buFontTx/>
              <a:buChar char="-"/>
            </a:pPr>
            <a:r>
              <a:rPr lang="en-US" sz="2200" b="1" dirty="0" err="1"/>
              <a:t>cbegin</a:t>
            </a:r>
            <a:r>
              <a:rPr lang="en-US" sz="2200" dirty="0"/>
              <a:t> </a:t>
            </a:r>
            <a:r>
              <a:rPr lang="ru-RU" sz="2200" dirty="0"/>
              <a:t>и </a:t>
            </a:r>
            <a:r>
              <a:rPr lang="en-US" sz="2200" b="1" dirty="0" err="1"/>
              <a:t>cend</a:t>
            </a:r>
            <a:r>
              <a:rPr lang="en-US" sz="2200" dirty="0"/>
              <a:t> </a:t>
            </a:r>
            <a:r>
              <a:rPr lang="ru-RU" sz="2200" dirty="0"/>
              <a:t>гарантированно создают константные</a:t>
            </a:r>
            <a:r>
              <a:rPr lang="en-US" sz="2200" dirty="0"/>
              <a:t> </a:t>
            </a:r>
            <a:r>
              <a:rPr lang="ru-RU" sz="2200" dirty="0"/>
              <a:t>итераторы</a:t>
            </a:r>
          </a:p>
          <a:p>
            <a:pPr marL="285750" indent="-285750">
              <a:buFontTx/>
              <a:buChar char="-"/>
            </a:pPr>
            <a:r>
              <a:rPr lang="en-US" sz="2200" b="1" dirty="0" err="1"/>
              <a:t>shrink_to_fit</a:t>
            </a:r>
            <a:r>
              <a:rPr lang="en-US" sz="2200" dirty="0"/>
              <a:t> </a:t>
            </a:r>
            <a:r>
              <a:rPr lang="ru-RU" sz="2200" dirty="0"/>
              <a:t>в контейнерах, которые заводят память с запасом</a:t>
            </a:r>
          </a:p>
          <a:p>
            <a:pPr marL="285750" indent="-285750">
              <a:buFontTx/>
              <a:buChar char="-"/>
            </a:pPr>
            <a:r>
              <a:rPr lang="en-US" sz="2200" b="1" dirty="0"/>
              <a:t>std::list</a:t>
            </a:r>
            <a:r>
              <a:rPr lang="en-US" sz="2200" dirty="0"/>
              <a:t> </a:t>
            </a:r>
            <a:r>
              <a:rPr lang="ru-RU" sz="2200" dirty="0"/>
              <a:t>поставлены более жёсткие рамки на то, что</a:t>
            </a:r>
            <a:r>
              <a:rPr lang="en-US" sz="2200" dirty="0"/>
              <a:t> </a:t>
            </a:r>
            <a:r>
              <a:rPr lang="ru-RU" sz="2200" dirty="0"/>
              <a:t>выполняется за </a:t>
            </a:r>
            <a:r>
              <a:rPr lang="en-US" sz="2200" b="1" dirty="0"/>
              <a:t>O(n)</a:t>
            </a:r>
            <a:r>
              <a:rPr lang="en-US" sz="2200" dirty="0"/>
              <a:t>, </a:t>
            </a:r>
            <a:r>
              <a:rPr lang="ru-RU" sz="2200" dirty="0"/>
              <a:t>а что — за </a:t>
            </a:r>
            <a:r>
              <a:rPr lang="en-US" sz="2200" b="1" dirty="0"/>
              <a:t>O(1)</a:t>
            </a:r>
            <a:endParaRPr lang="ru-RU" sz="2200" b="1" dirty="0"/>
          </a:p>
          <a:p>
            <a:pPr marL="285750" indent="-285750">
              <a:buFontTx/>
              <a:buChar char="-"/>
            </a:pPr>
            <a:r>
              <a:rPr lang="en-US" sz="2200" b="1" dirty="0"/>
              <a:t>std::vector </a:t>
            </a:r>
            <a:r>
              <a:rPr lang="ru-RU" sz="2200" dirty="0"/>
              <a:t>получил метод </a:t>
            </a:r>
            <a:r>
              <a:rPr lang="en-US" sz="2200" b="1" dirty="0"/>
              <a:t>data()</a:t>
            </a:r>
            <a:r>
              <a:rPr lang="en-US" sz="2200" dirty="0"/>
              <a:t> </a:t>
            </a:r>
            <a:r>
              <a:rPr lang="ru-RU" sz="2200" dirty="0"/>
              <a:t>для прямого доступа к памяти</a:t>
            </a:r>
          </a:p>
          <a:p>
            <a:pPr marL="285750" indent="-285750">
              <a:buFontTx/>
              <a:buChar char="-"/>
            </a:pPr>
            <a:r>
              <a:rPr lang="ru-RU" sz="2200" dirty="0"/>
              <a:t>запретили нескольким </a:t>
            </a:r>
            <a:r>
              <a:rPr lang="en-US" sz="2200" b="1" dirty="0"/>
              <a:t>std::string </a:t>
            </a:r>
            <a:r>
              <a:rPr lang="ru-RU" sz="2200" dirty="0"/>
              <a:t>ссылаться на одну и ту же</a:t>
            </a:r>
            <a:r>
              <a:rPr lang="en-US" sz="2200" dirty="0"/>
              <a:t> </a:t>
            </a:r>
            <a:r>
              <a:rPr lang="ru-RU" sz="2200" dirty="0"/>
              <a:t>память, появился и прямой доступ через </a:t>
            </a:r>
            <a:r>
              <a:rPr lang="en-US" sz="2200" b="1" dirty="0"/>
              <a:t>front()</a:t>
            </a:r>
          </a:p>
          <a:p>
            <a:pPr marL="285750" indent="-285750">
              <a:buFontTx/>
              <a:buChar char="-"/>
            </a:pPr>
            <a:r>
              <a:rPr lang="ru-RU" sz="2200" dirty="0"/>
              <a:t>нестандартные расширения</a:t>
            </a:r>
            <a:r>
              <a:rPr lang="en-US" sz="2200" dirty="0"/>
              <a:t> </a:t>
            </a:r>
            <a:r>
              <a:rPr lang="en-US" sz="2200" b="1" dirty="0"/>
              <a:t>boost::</a:t>
            </a:r>
            <a:r>
              <a:rPr lang="en-US" sz="2200" b="1" dirty="0" err="1"/>
              <a:t>hash_set</a:t>
            </a:r>
            <a:r>
              <a:rPr lang="en-US" sz="2200" b="1" dirty="0"/>
              <a:t> </a:t>
            </a:r>
            <a:r>
              <a:rPr lang="ru-RU" sz="2200" dirty="0"/>
              <a:t>и </a:t>
            </a:r>
            <a:r>
              <a:rPr lang="en-US" sz="2200" b="1" dirty="0"/>
              <a:t>boost::</a:t>
            </a:r>
            <a:r>
              <a:rPr lang="en-US" sz="2200" b="1" dirty="0" err="1"/>
              <a:t>hash_map</a:t>
            </a:r>
            <a:r>
              <a:rPr lang="en-US" sz="2200" b="1" dirty="0"/>
              <a:t> </a:t>
            </a:r>
            <a:r>
              <a:rPr lang="ru-RU" sz="2200" dirty="0"/>
              <a:t>стали </a:t>
            </a:r>
            <a:r>
              <a:rPr lang="en-US" sz="2200" b="1" dirty="0"/>
              <a:t>std::</a:t>
            </a:r>
            <a:r>
              <a:rPr lang="en-US" sz="2200" b="1" dirty="0" err="1"/>
              <a:t>unordered_set</a:t>
            </a:r>
            <a:r>
              <a:rPr lang="en-US" sz="2200" b="1" dirty="0"/>
              <a:t> </a:t>
            </a:r>
            <a:r>
              <a:rPr lang="ru-RU" sz="2200" dirty="0"/>
              <a:t>и </a:t>
            </a:r>
            <a:r>
              <a:rPr lang="en-US" sz="2200" b="1" dirty="0"/>
              <a:t>std::</a:t>
            </a:r>
            <a:r>
              <a:rPr lang="en-US" sz="2200" b="1" dirty="0" err="1"/>
              <a:t>unordered_map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950461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AF89-70C0-E9D5-6398-B27008C2C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4F79-F437-97CA-96C7-A9CA519B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Изменения в </a:t>
            </a:r>
            <a:r>
              <a:rPr lang="en-US" dirty="0"/>
              <a:t>STL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CD3E0-49B5-248B-2C6F-D83D9C6BA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E4D57-68C4-5F84-3C95-66623DF7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57150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5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85D7-3B52-7AD0-0970-52D3F268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4DDC-1574-17F8-2C2E-9577689E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r>
              <a:rPr lang="en-US" dirty="0"/>
              <a:t>: C++03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533E-2551-655E-71BC-534F3139A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7DFB618-1354-47E0-6415-57C188DFF72A}"/>
              </a:ext>
            </a:extLst>
          </p:cNvPr>
          <p:cNvSpPr/>
          <p:nvPr/>
        </p:nvSpPr>
        <p:spPr>
          <a:xfrm>
            <a:off x="5129048" y="2391653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expression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718F68-7402-8108-1323-EFC44E5738E2}"/>
              </a:ext>
            </a:extLst>
          </p:cNvPr>
          <p:cNvSpPr/>
          <p:nvPr/>
        </p:nvSpPr>
        <p:spPr>
          <a:xfrm>
            <a:off x="6643853" y="3858639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rvalue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44B171-503A-C2F3-23D7-412F74DD8955}"/>
              </a:ext>
            </a:extLst>
          </p:cNvPr>
          <p:cNvSpPr/>
          <p:nvPr/>
        </p:nvSpPr>
        <p:spPr>
          <a:xfrm>
            <a:off x="3605049" y="3858639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lvalue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178AFE-1BC3-BEB5-2B8C-B97883CF2786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4572001" y="3242991"/>
            <a:ext cx="1523999" cy="6156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61E68D-4186-D3A6-D905-6F8CAA0C82B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6000" y="3242991"/>
            <a:ext cx="1514805" cy="6156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548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D428-F275-4176-EDEF-50BD7C61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EDEE-DB1A-E63C-A917-0243B499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r>
              <a:rPr lang="en-US" dirty="0"/>
              <a:t>: C++11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ACA83-EBB8-4545-C934-E5C67273B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487A89-1F10-A0B4-E73C-44033069AC81}"/>
              </a:ext>
            </a:extLst>
          </p:cNvPr>
          <p:cNvSpPr/>
          <p:nvPr/>
        </p:nvSpPr>
        <p:spPr>
          <a:xfrm>
            <a:off x="5129048" y="2391653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expression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43CB44-5BD9-4B56-5256-892A57FAC2AB}"/>
              </a:ext>
            </a:extLst>
          </p:cNvPr>
          <p:cNvSpPr/>
          <p:nvPr/>
        </p:nvSpPr>
        <p:spPr>
          <a:xfrm>
            <a:off x="6643853" y="3858639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rvalue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74B2B4-5C81-B157-F5E8-6EC7EB313969}"/>
              </a:ext>
            </a:extLst>
          </p:cNvPr>
          <p:cNvSpPr/>
          <p:nvPr/>
        </p:nvSpPr>
        <p:spPr>
          <a:xfrm>
            <a:off x="3605049" y="3858639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glvalue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AB3DBE-14B2-4695-BBD3-55FE3B2F0178}"/>
              </a:ext>
            </a:extLst>
          </p:cNvPr>
          <p:cNvSpPr/>
          <p:nvPr/>
        </p:nvSpPr>
        <p:spPr>
          <a:xfrm>
            <a:off x="8177050" y="5324531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prvalue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56941E-3285-6402-D565-A7FE9C2521E9}"/>
              </a:ext>
            </a:extLst>
          </p:cNvPr>
          <p:cNvSpPr/>
          <p:nvPr/>
        </p:nvSpPr>
        <p:spPr>
          <a:xfrm>
            <a:off x="5129049" y="5324531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xvalue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8C8E34-C0A2-F3FC-9EEB-2728A7986078}"/>
              </a:ext>
            </a:extLst>
          </p:cNvPr>
          <p:cNvSpPr/>
          <p:nvPr/>
        </p:nvSpPr>
        <p:spPr>
          <a:xfrm>
            <a:off x="2228195" y="5325625"/>
            <a:ext cx="1933903" cy="85133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lvalue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C14A94-7B80-A615-AB0B-1FDC86E7FEB3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4572001" y="3242991"/>
            <a:ext cx="1523999" cy="6156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354111-9D38-81CA-7F02-033D3C85E26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6000" y="3242991"/>
            <a:ext cx="1514805" cy="6156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7D8D61-AD41-B61D-C837-AEDB1A937B20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3195147" y="4709977"/>
            <a:ext cx="1376854" cy="6156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F7BE5C-9D0B-3873-11AF-0931D64E656B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4572001" y="4709977"/>
            <a:ext cx="1524000" cy="614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4B7F67-2840-E0A8-801A-9CB1B714E8A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6096001" y="4709977"/>
            <a:ext cx="1514804" cy="614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4860AE-2C15-D1A5-ACD9-129086DDA1B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7610805" y="4709977"/>
            <a:ext cx="1533197" cy="614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614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B8D8-23AE-6646-1A43-25B1BED1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E93B-6BC9-0D86-4CF3-8B6718B3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8ECFC-268B-9973-A728-5ABB4182B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Неформально, но просто: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lvalue</a:t>
            </a:r>
            <a:r>
              <a:rPr lang="en-US" dirty="0"/>
              <a:t> (locator value) - </a:t>
            </a:r>
            <a:r>
              <a:rPr lang="ru-RU" dirty="0"/>
              <a:t>это то, брать адрес от чего можно,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prvalue</a:t>
            </a:r>
            <a:r>
              <a:rPr lang="en-US" dirty="0"/>
              <a:t> (pure </a:t>
            </a:r>
            <a:r>
              <a:rPr lang="en-US" dirty="0" err="1"/>
              <a:t>rvalue</a:t>
            </a:r>
            <a:r>
              <a:rPr lang="en-US" dirty="0"/>
              <a:t>) - </a:t>
            </a:r>
            <a:r>
              <a:rPr lang="ru-RU" dirty="0"/>
              <a:t>то, от чего – нельзя, а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xvalue</a:t>
            </a:r>
            <a:r>
              <a:rPr lang="en-US" dirty="0"/>
              <a:t> (expiring value) - </a:t>
            </a:r>
            <a:r>
              <a:rPr lang="ru-RU" dirty="0"/>
              <a:t>то, от чего бесполезно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96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4777-465D-8E35-1DFE-E795F800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AB22-07A5-31BB-0B97-EC066C20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6B4FD-6AAB-4396-C3EE-287C944B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Неформально, но просто: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lvalue</a:t>
            </a:r>
            <a:r>
              <a:rPr lang="en-US" dirty="0"/>
              <a:t> (locator value) - </a:t>
            </a:r>
            <a:r>
              <a:rPr lang="ru-RU" dirty="0"/>
              <a:t>это то, брать адрес от чего можно,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prvalue</a:t>
            </a:r>
            <a:r>
              <a:rPr lang="en-US" dirty="0"/>
              <a:t> (pure </a:t>
            </a:r>
            <a:r>
              <a:rPr lang="en-US" dirty="0" err="1"/>
              <a:t>rvalue</a:t>
            </a:r>
            <a:r>
              <a:rPr lang="en-US" dirty="0"/>
              <a:t>) - </a:t>
            </a:r>
            <a:r>
              <a:rPr lang="ru-RU" dirty="0"/>
              <a:t>то, от чего – нельзя, а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xvalue</a:t>
            </a:r>
            <a:r>
              <a:rPr lang="en-US" dirty="0"/>
              <a:t> (expiring value) - </a:t>
            </a:r>
            <a:r>
              <a:rPr lang="ru-RU" dirty="0"/>
              <a:t>то, от чего бесполезно</a:t>
            </a:r>
          </a:p>
          <a:p>
            <a:pPr marL="0" indent="0">
              <a:buNone/>
            </a:pPr>
            <a:r>
              <a:rPr lang="ru-RU" dirty="0"/>
              <a:t>Именно </a:t>
            </a:r>
            <a:r>
              <a:rPr lang="en-US" b="1" dirty="0" err="1"/>
              <a:t>xvalue</a:t>
            </a:r>
            <a:r>
              <a:rPr lang="en-US" dirty="0"/>
              <a:t> </a:t>
            </a:r>
            <a:r>
              <a:rPr lang="ru-RU" dirty="0"/>
              <a:t>является ключом к </a:t>
            </a:r>
            <a:r>
              <a:rPr lang="ru-RU" b="1" dirty="0"/>
              <a:t>семантике перемещений</a:t>
            </a:r>
            <a:r>
              <a:rPr lang="ru-RU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4E876-925C-D6B5-3D1A-F6AB05469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25963"/>
            <a:ext cx="70739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28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C95B2-EBB0-993C-4CAC-B7216876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0C6B-949E-AE7A-1BD4-0302A934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8469-A244-2BB4-5E4B-FEC9F8308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31C94B-70CE-8C9F-C206-8D5C1163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4175"/>
            <a:ext cx="52959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78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781C-F43A-AD9B-D322-CA737D1B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183A-98C2-B805-7194-E36DC844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315C-F49B-28ED-2699-3F033B351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76EB68-3259-82B6-524F-625595B36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4175"/>
            <a:ext cx="56134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16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076F3-463D-BB77-D090-312E6E59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E6CA-C7D0-BA1E-805A-5C0426E0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626A1-F606-F8F6-19DB-B0443BE48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A3C29-89F8-8440-2D0C-E51BAAE7B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2959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7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CAD9-0BBC-9117-9836-80DA3353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037F0-7CA1-A5C7-4E3C-FFA0A6D3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FED0-2375-F2DA-64C6-4D146BF3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E432D-4E07-08E8-BD5C-1707EAF1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9436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06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DC81-4657-C2E7-4CB2-DBDBDAD9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0007-1207-8986-680A-27298763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98A4-1CB0-0ACB-F46F-5FF62C02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BF6A3-7195-780D-9C7A-100595E57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2959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65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A0128-583F-DDF7-9822-EF0C8327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9E5C-BB0E-60F3-9603-523D4455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E7EB-00C0-E9B7-F4CF-B574D0B0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ABD02-E4BE-1955-7062-7C2B1045A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7404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67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0D15-9A60-2168-D221-837688D0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E54E-CC9B-5D9D-685D-F1FB8F7A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Семантика перемещения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C2BA-9D36-6CA6-ED2B-714E439A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Семантика перемещения (</a:t>
            </a:r>
            <a:r>
              <a:rPr lang="en-US" b="1" dirty="0"/>
              <a:t>move semantics</a:t>
            </a:r>
            <a:r>
              <a:rPr lang="en-US" dirty="0"/>
              <a:t>) — </a:t>
            </a:r>
            <a:r>
              <a:rPr lang="ru-RU" dirty="0"/>
              <a:t>это механизм </a:t>
            </a:r>
            <a:r>
              <a:rPr lang="en-US" dirty="0"/>
              <a:t>C++11</a:t>
            </a:r>
            <a:r>
              <a:rPr lang="ru-RU" dirty="0"/>
              <a:t>+</a:t>
            </a:r>
            <a:r>
              <a:rPr lang="en-US" dirty="0"/>
              <a:t>, </a:t>
            </a:r>
            <a:r>
              <a:rPr lang="ru-RU" dirty="0"/>
              <a:t>который позволяет передавать ресурсы объекта </a:t>
            </a:r>
            <a:r>
              <a:rPr lang="ru-RU" b="1" dirty="0"/>
              <a:t>без копирования</a:t>
            </a:r>
            <a:r>
              <a:rPr lang="ru-RU" dirty="0"/>
              <a:t>, делая код быстрым и безопасным, особенно для </a:t>
            </a:r>
            <a:r>
              <a:rPr lang="ru-RU" b="1" dirty="0"/>
              <a:t>объектов с владением ресурсами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3692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8A38-F76C-C1DF-3CB4-82DD99AB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96F8-0D1E-544D-BF61-60EEE8CD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Семантика перемещения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3E43-D780-B5EB-8B38-52CE7E16C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Состояние объекта </a:t>
            </a:r>
            <a:r>
              <a:rPr lang="ru-RU" dirty="0"/>
              <a:t>- это совокупность значений его полей нестатических данных.</a:t>
            </a:r>
          </a:p>
          <a:p>
            <a:pPr marL="0" indent="0">
              <a:buNone/>
            </a:pPr>
            <a:r>
              <a:rPr lang="ru-RU" b="1" dirty="0"/>
              <a:t>Копирование объекта </a:t>
            </a:r>
            <a:r>
              <a:rPr lang="ru-RU" dirty="0"/>
              <a:t>- средство передачи состояния от одного объекта к другому (единственное до недавнего времени).</a:t>
            </a:r>
          </a:p>
          <a:p>
            <a:pPr marL="0" indent="0">
              <a:buNone/>
            </a:pPr>
            <a:r>
              <a:rPr lang="ru-RU" b="1" dirty="0"/>
              <a:t>Перемещение объекта </a:t>
            </a:r>
            <a:r>
              <a:rPr lang="ru-RU" dirty="0"/>
              <a:t>– средство передачи состояния от одного объекту к другому, при которой изначальный объект безвозвратно теряет свои ресурсы, возможность дальнейшей применимости (валидность состояния).</a:t>
            </a:r>
          </a:p>
          <a:p>
            <a:pPr marL="0" indent="0">
              <a:buNone/>
            </a:pPr>
            <a:r>
              <a:rPr lang="ru-RU" dirty="0"/>
              <a:t>Перемещение часто выполняются быстрее, чем копирование, т.к. переносит существующий ресурс в новое место назначения, а копирование требует создание нового ресурса с нуля.</a:t>
            </a:r>
          </a:p>
          <a:p>
            <a:pPr marL="0" indent="0">
              <a:buNone/>
            </a:pPr>
            <a:r>
              <a:rPr lang="ru-RU" dirty="0"/>
              <a:t>Эффективность перемещения проявляется при передаче временных </a:t>
            </a:r>
            <a:r>
              <a:rPr lang="ru-RU" dirty="0" err="1"/>
              <a:t>неименнованных</a:t>
            </a:r>
            <a:r>
              <a:rPr lang="ru-RU" dirty="0"/>
              <a:t> объектов по значению.</a:t>
            </a:r>
          </a:p>
        </p:txBody>
      </p:sp>
    </p:spTree>
    <p:extLst>
      <p:ext uri="{BB962C8B-B14F-4D97-AF65-F5344CB8AC3E}">
        <p14:creationId xmlns:p14="http://schemas.microsoft.com/office/powerpoint/2010/main" val="16054064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19B1-35C0-A612-B4A3-DD4ADFB7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A572-666B-99A8-CA2F-7C5FE8B4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Семантика перемещения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3357-EA2B-8857-293C-F75FFD9A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Дополнительные 2 специальных методов класса к 4-м известным: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конструктор по умолчанию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конструктор копирования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оператор присваивания с копированием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деструктор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ru-RU" b="1" dirty="0"/>
              <a:t>конструктор перемещения</a:t>
            </a:r>
            <a:endParaRPr lang="en-US" b="1" dirty="0"/>
          </a:p>
          <a:p>
            <a:pPr marL="971550" lvl="1" indent="-514350">
              <a:buFont typeface="+mj-lt"/>
              <a:buAutoNum type="arabicPeriod"/>
            </a:pPr>
            <a:r>
              <a:rPr lang="ru-RU" b="1" dirty="0"/>
              <a:t>оператор присваивания с перемещением</a:t>
            </a:r>
            <a:endParaRPr lang="en-US" b="1" dirty="0"/>
          </a:p>
          <a:p>
            <a:pPr marL="0" indent="0">
              <a:buNone/>
            </a:pPr>
            <a:r>
              <a:rPr lang="ru-RU" dirty="0"/>
              <a:t>Если класс не имеет явно определённых специальных методов (кроме конструктора по умолчанию</a:t>
            </a:r>
            <a:r>
              <a:rPr lang="en-US" dirty="0"/>
              <a:t>), </a:t>
            </a:r>
            <a:r>
              <a:rPr lang="ru-RU" dirty="0"/>
              <a:t>то компилятор сам определяет остальные 5 неявно</a:t>
            </a:r>
          </a:p>
        </p:txBody>
      </p:sp>
    </p:spTree>
    <p:extLst>
      <p:ext uri="{BB962C8B-B14F-4D97-AF65-F5344CB8AC3E}">
        <p14:creationId xmlns:p14="http://schemas.microsoft.com/office/powerpoint/2010/main" val="1939283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EC88-5F6F-7CF1-DBC1-0E05B559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F0FD-4299-578E-875C-40C883D1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Семантика перемещения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69CC1-C8E8-9DEB-2E2E-4C65D0CEC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10158-4711-1A1B-D3C0-051798A8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72400" cy="476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24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97CE-3914-429F-0C99-32DD38F5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D0D7-8B57-C203-F9DE-9CCA9746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Совершенная передача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960A-ED65-BBEB-3B4E-1C4DC575B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E8B86-A4A3-F5FB-43FF-BDD6DD5AD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7844"/>
            <a:ext cx="26670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970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5AFB-D0E4-10C3-DD37-20E024CA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9078-C150-8463-013F-B0D3774F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Совершенная передача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6145-5CC7-E381-E757-4F43BC305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66D1E-7541-27E9-9B5E-0A6239B3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7844"/>
            <a:ext cx="27432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24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69AF6-61AA-6A42-6055-E40B493C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FC2C-1B94-93F5-FBCF-8D889111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Совершенная передача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19686-FB97-C8E2-2FB5-AAD175001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B6F7D-A151-363D-89CF-5F9E89AB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3436"/>
            <a:ext cx="9237360" cy="37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49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6EAB-120D-91A6-E532-FE483B81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4A1A6-C9E1-3DC6-EF39-6B94BB26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Совершенная передача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32C2-7D63-25CA-1E17-9352DF0C9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30091-EA09-ED40-852A-C47AE685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3436"/>
            <a:ext cx="9237360" cy="37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48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3561-002C-11A7-37F9-0F8BAC0D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BDF2-039E-C34F-A524-E0D42F7F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Совершенная передача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B9BE-C038-4807-AB2C-6435E067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Совершенная передача</a:t>
            </a:r>
            <a:r>
              <a:rPr lang="en-US" dirty="0"/>
              <a:t> (</a:t>
            </a:r>
            <a:r>
              <a:rPr lang="en-US" b="1" dirty="0"/>
              <a:t>perfect forwarding</a:t>
            </a:r>
            <a:r>
              <a:rPr lang="en-US" dirty="0"/>
              <a:t>) — </a:t>
            </a:r>
            <a:r>
              <a:rPr lang="ru-RU" dirty="0"/>
              <a:t>это приём в </a:t>
            </a:r>
            <a:r>
              <a:rPr lang="en-US" dirty="0"/>
              <a:t>C++, </a:t>
            </a:r>
            <a:r>
              <a:rPr lang="ru-RU" dirty="0"/>
              <a:t>который позволяет принять аргументы в шаблонной функции и передать их дальше, полностью сохранив их исходную семантику: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BACF6-40DE-EDF8-3046-7037D8143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6268545" cy="2168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7ADCFE-185A-5F70-51AE-8721238D02EE}"/>
              </a:ext>
            </a:extLst>
          </p:cNvPr>
          <p:cNvSpPr txBox="1"/>
          <p:nvPr/>
        </p:nvSpPr>
        <p:spPr>
          <a:xfrm>
            <a:off x="7795610" y="3912869"/>
            <a:ext cx="2869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lvalue</a:t>
            </a:r>
            <a:r>
              <a:rPr lang="en-US" dirty="0"/>
              <a:t> </a:t>
            </a:r>
            <a:r>
              <a:rPr lang="ru-RU" dirty="0"/>
              <a:t>остаётся </a:t>
            </a:r>
            <a:r>
              <a:rPr lang="en-US" dirty="0" err="1"/>
              <a:t>lvalue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rvalue</a:t>
            </a:r>
            <a:r>
              <a:rPr lang="en-US" dirty="0"/>
              <a:t> </a:t>
            </a:r>
            <a:r>
              <a:rPr lang="ru-RU" dirty="0"/>
              <a:t>остаётся </a:t>
            </a:r>
            <a:r>
              <a:rPr lang="en-US" dirty="0" err="1"/>
              <a:t>rvalue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 </a:t>
            </a:r>
            <a:r>
              <a:rPr lang="ru-RU" dirty="0"/>
              <a:t>остаётся </a:t>
            </a:r>
            <a:r>
              <a:rPr lang="en-US" dirty="0"/>
              <a:t>const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volatile </a:t>
            </a:r>
            <a:r>
              <a:rPr lang="ru-RU" dirty="0"/>
              <a:t>остаётся </a:t>
            </a:r>
            <a:r>
              <a:rPr 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3672317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334E-0BE6-08A2-24A6-421C10E8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9B5A-FCA5-32E2-2A06-943DE71D4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Совершенная передача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82C5-EF7F-AC87-C43E-0DDF4B87B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BCF8D-76A4-5695-4FFB-281EB1214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4157"/>
            <a:ext cx="4229100" cy="2921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0D8FA7-4531-25D8-3552-2AF261589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650726"/>
              </p:ext>
            </p:extLst>
          </p:nvPr>
        </p:nvGraphicFramePr>
        <p:xfrm>
          <a:off x="838200" y="3084705"/>
          <a:ext cx="10502462" cy="239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7469">
                  <a:extLst>
                    <a:ext uri="{9D8B030D-6E8A-4147-A177-3AD203B41FA5}">
                      <a16:colId xmlns:a16="http://schemas.microsoft.com/office/drawing/2014/main" val="3399818806"/>
                    </a:ext>
                  </a:extLst>
                </a:gridCol>
                <a:gridCol w="3478924">
                  <a:extLst>
                    <a:ext uri="{9D8B030D-6E8A-4147-A177-3AD203B41FA5}">
                      <a16:colId xmlns:a16="http://schemas.microsoft.com/office/drawing/2014/main" val="87746697"/>
                    </a:ext>
                  </a:extLst>
                </a:gridCol>
                <a:gridCol w="3626069">
                  <a:extLst>
                    <a:ext uri="{9D8B030D-6E8A-4147-A177-3AD203B41FA5}">
                      <a16:colId xmlns:a16="http://schemas.microsoft.com/office/drawing/2014/main" val="124208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</a:rPr>
                        <a:t>Передаваемый аргумент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</a:rPr>
                        <a:t>Выведенный параметр</a:t>
                      </a:r>
                    </a:p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</a:rPr>
                        <a:t>шаблона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</a:rPr>
                        <a:t>Результирующий тип</a:t>
                      </a:r>
                    </a:p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</a:rPr>
                        <a:t>аргумента функции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09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lvalue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T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T&amp; &amp;&amp; → T&amp;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529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const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lvalue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T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const T&amp;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const T&amp; &amp;&amp; → const T&amp;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0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rvalue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T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T&amp;&amp;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01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const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rvalue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const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const T&amp;&amp;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27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33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11814</TotalTime>
  <Words>1010</Words>
  <Application>Microsoft Macintosh PowerPoint</Application>
  <PresentationFormat>Widescreen</PresentationFormat>
  <Paragraphs>173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System Font Regular</vt:lpstr>
      <vt:lpstr>Office Theme</vt:lpstr>
      <vt:lpstr>Проектирование больших систем на С++</vt:lpstr>
      <vt:lpstr>explicit</vt:lpstr>
      <vt:lpstr>explicit</vt:lpstr>
      <vt:lpstr>explicit</vt:lpstr>
      <vt:lpstr>alignas &amp; alignof</vt:lpstr>
      <vt:lpstr>decltype</vt:lpstr>
      <vt:lpstr>lambda</vt:lpstr>
      <vt:lpstr>lambda</vt:lpstr>
      <vt:lpstr>lambda</vt:lpstr>
      <vt:lpstr>lambda</vt:lpstr>
      <vt:lpstr>lambda</vt:lpstr>
      <vt:lpstr>lambda</vt:lpstr>
      <vt:lpstr>lambda</vt:lpstr>
      <vt:lpstr>lambda</vt:lpstr>
      <vt:lpstr>lambda</vt:lpstr>
      <vt:lpstr>lambda</vt:lpstr>
      <vt:lpstr>std::function</vt:lpstr>
      <vt:lpstr>std::function</vt:lpstr>
      <vt:lpstr>std::bind</vt:lpstr>
      <vt:lpstr>std::bind</vt:lpstr>
      <vt:lpstr>thread_local</vt:lpstr>
      <vt:lpstr>Поддержка многопоточности</vt:lpstr>
      <vt:lpstr>Поддержка многопоточности</vt:lpstr>
      <vt:lpstr>Доработка шаблонов</vt:lpstr>
      <vt:lpstr>Изменения в STL</vt:lpstr>
      <vt:lpstr>Изменения в STL</vt:lpstr>
      <vt:lpstr>Категории выражений: C++03</vt:lpstr>
      <vt:lpstr>Категории выражений: C++11</vt:lpstr>
      <vt:lpstr>Категории выражений</vt:lpstr>
      <vt:lpstr>Категории выражений</vt:lpstr>
      <vt:lpstr>Категории выражений</vt:lpstr>
      <vt:lpstr>Категории выражений</vt:lpstr>
      <vt:lpstr>Категории выражений</vt:lpstr>
      <vt:lpstr>Категории выражений</vt:lpstr>
      <vt:lpstr>Категории выражений</vt:lpstr>
      <vt:lpstr>Категории выражений</vt:lpstr>
      <vt:lpstr>Семантика перемещения</vt:lpstr>
      <vt:lpstr>Семантика перемещения</vt:lpstr>
      <vt:lpstr>Семантика перемещения</vt:lpstr>
      <vt:lpstr>Семантика перемещения</vt:lpstr>
      <vt:lpstr>Совершенная передача</vt:lpstr>
      <vt:lpstr>Совершенная передача</vt:lpstr>
      <vt:lpstr>Совершенная передача</vt:lpstr>
      <vt:lpstr>Совершенная передача</vt:lpstr>
      <vt:lpstr>Совершенная передача</vt:lpstr>
      <vt:lpstr>Совершенная передача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82</cp:revision>
  <dcterms:created xsi:type="dcterms:W3CDTF">2026-01-06T17:52:33Z</dcterms:created>
  <dcterms:modified xsi:type="dcterms:W3CDTF">2026-01-15T11:49:36Z</dcterms:modified>
</cp:coreProperties>
</file>